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6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lar Vicuña Moller" userId="4d5592f5-41c7-4002-9371-30e03ba921a2" providerId="ADAL" clId="{E9E51B35-1D0A-4310-B49D-84AEE3786DC8}"/>
    <pc:docChg chg="undo custSel delSld modSld">
      <pc:chgData name="Pilar Vicuña Moller" userId="4d5592f5-41c7-4002-9371-30e03ba921a2" providerId="ADAL" clId="{E9E51B35-1D0A-4310-B49D-84AEE3786DC8}" dt="2026-07-17T16:46:21.842" v="23" actId="47"/>
      <pc:docMkLst>
        <pc:docMk/>
      </pc:docMkLst>
      <pc:sldChg chg="del">
        <pc:chgData name="Pilar Vicuña Moller" userId="4d5592f5-41c7-4002-9371-30e03ba921a2" providerId="ADAL" clId="{E9E51B35-1D0A-4310-B49D-84AEE3786DC8}" dt="2026-07-17T16:44:14.060" v="1" actId="47"/>
        <pc:sldMkLst>
          <pc:docMk/>
          <pc:sldMk cId="0" sldId="258"/>
        </pc:sldMkLst>
      </pc:sldChg>
      <pc:sldChg chg="delSp modSp mod">
        <pc:chgData name="Pilar Vicuña Moller" userId="4d5592f5-41c7-4002-9371-30e03ba921a2" providerId="ADAL" clId="{E9E51B35-1D0A-4310-B49D-84AEE3786DC8}" dt="2026-07-17T16:44:53.726" v="6" actId="478"/>
        <pc:sldMkLst>
          <pc:docMk/>
          <pc:sldMk cId="0" sldId="260"/>
        </pc:sldMkLst>
        <pc:spChg chg="mod">
          <ac:chgData name="Pilar Vicuña Moller" userId="4d5592f5-41c7-4002-9371-30e03ba921a2" providerId="ADAL" clId="{E9E51B35-1D0A-4310-B49D-84AEE3786DC8}" dt="2026-07-17T16:44:38.948" v="5" actId="27636"/>
          <ac:spMkLst>
            <pc:docMk/>
            <pc:sldMk cId="0" sldId="260"/>
            <ac:spMk id="5" creationId="{00000000-0000-0000-0000-000000000000}"/>
          </ac:spMkLst>
        </pc:spChg>
        <pc:spChg chg="del">
          <ac:chgData name="Pilar Vicuña Moller" userId="4d5592f5-41c7-4002-9371-30e03ba921a2" providerId="ADAL" clId="{E9E51B35-1D0A-4310-B49D-84AEE3786DC8}" dt="2026-07-17T16:44:53.726" v="6" actId="478"/>
          <ac:spMkLst>
            <pc:docMk/>
            <pc:sldMk cId="0" sldId="260"/>
            <ac:spMk id="10" creationId="{00000000-0000-0000-0000-000000000000}"/>
          </ac:spMkLst>
        </pc:spChg>
      </pc:sldChg>
      <pc:sldChg chg="delSp mod">
        <pc:chgData name="Pilar Vicuña Moller" userId="4d5592f5-41c7-4002-9371-30e03ba921a2" providerId="ADAL" clId="{E9E51B35-1D0A-4310-B49D-84AEE3786DC8}" dt="2026-07-17T16:44:59.571" v="7" actId="478"/>
        <pc:sldMkLst>
          <pc:docMk/>
          <pc:sldMk cId="0" sldId="261"/>
        </pc:sldMkLst>
        <pc:spChg chg="del">
          <ac:chgData name="Pilar Vicuña Moller" userId="4d5592f5-41c7-4002-9371-30e03ba921a2" providerId="ADAL" clId="{E9E51B35-1D0A-4310-B49D-84AEE3786DC8}" dt="2026-07-17T16:44:59.571" v="7" actId="478"/>
          <ac:spMkLst>
            <pc:docMk/>
            <pc:sldMk cId="0" sldId="261"/>
            <ac:spMk id="10" creationId="{00000000-0000-0000-0000-000000000000}"/>
          </ac:spMkLst>
        </pc:spChg>
      </pc:sldChg>
      <pc:sldChg chg="delSp mod">
        <pc:chgData name="Pilar Vicuña Moller" userId="4d5592f5-41c7-4002-9371-30e03ba921a2" providerId="ADAL" clId="{E9E51B35-1D0A-4310-B49D-84AEE3786DC8}" dt="2026-07-17T16:45:07.062" v="8" actId="478"/>
        <pc:sldMkLst>
          <pc:docMk/>
          <pc:sldMk cId="0" sldId="262"/>
        </pc:sldMkLst>
        <pc:spChg chg="del">
          <ac:chgData name="Pilar Vicuña Moller" userId="4d5592f5-41c7-4002-9371-30e03ba921a2" providerId="ADAL" clId="{E9E51B35-1D0A-4310-B49D-84AEE3786DC8}" dt="2026-07-17T16:45:07.062" v="8" actId="478"/>
          <ac:spMkLst>
            <pc:docMk/>
            <pc:sldMk cId="0" sldId="262"/>
            <ac:spMk id="10" creationId="{00000000-0000-0000-0000-000000000000}"/>
          </ac:spMkLst>
        </pc:spChg>
      </pc:sldChg>
      <pc:sldChg chg="delSp modSp mod">
        <pc:chgData name="Pilar Vicuña Moller" userId="4d5592f5-41c7-4002-9371-30e03ba921a2" providerId="ADAL" clId="{E9E51B35-1D0A-4310-B49D-84AEE3786DC8}" dt="2026-07-17T16:45:43.288" v="18" actId="27636"/>
        <pc:sldMkLst>
          <pc:docMk/>
          <pc:sldMk cId="0" sldId="263"/>
        </pc:sldMkLst>
        <pc:spChg chg="mod">
          <ac:chgData name="Pilar Vicuña Moller" userId="4d5592f5-41c7-4002-9371-30e03ba921a2" providerId="ADAL" clId="{E9E51B35-1D0A-4310-B49D-84AEE3786DC8}" dt="2026-07-17T16:45:43.288" v="18" actId="27636"/>
          <ac:spMkLst>
            <pc:docMk/>
            <pc:sldMk cId="0" sldId="263"/>
            <ac:spMk id="5" creationId="{00000000-0000-0000-0000-000000000000}"/>
          </ac:spMkLst>
        </pc:spChg>
        <pc:spChg chg="del">
          <ac:chgData name="Pilar Vicuña Moller" userId="4d5592f5-41c7-4002-9371-30e03ba921a2" providerId="ADAL" clId="{E9E51B35-1D0A-4310-B49D-84AEE3786DC8}" dt="2026-07-17T16:45:14.595" v="9" actId="478"/>
          <ac:spMkLst>
            <pc:docMk/>
            <pc:sldMk cId="0" sldId="263"/>
            <ac:spMk id="10" creationId="{00000000-0000-0000-0000-000000000000}"/>
          </ac:spMkLst>
        </pc:spChg>
        <pc:spChg chg="mod">
          <ac:chgData name="Pilar Vicuña Moller" userId="4d5592f5-41c7-4002-9371-30e03ba921a2" providerId="ADAL" clId="{E9E51B35-1D0A-4310-B49D-84AEE3786DC8}" dt="2026-07-17T16:45:31.397" v="14" actId="20577"/>
          <ac:spMkLst>
            <pc:docMk/>
            <pc:sldMk cId="0" sldId="263"/>
            <ac:spMk id="12" creationId="{00000000-0000-0000-0000-000000000000}"/>
          </ac:spMkLst>
        </pc:spChg>
      </pc:sldChg>
      <pc:sldChg chg="modSp mod">
        <pc:chgData name="Pilar Vicuña Moller" userId="4d5592f5-41c7-4002-9371-30e03ba921a2" providerId="ADAL" clId="{E9E51B35-1D0A-4310-B49D-84AEE3786DC8}" dt="2026-07-17T16:46:07.942" v="22" actId="27636"/>
        <pc:sldMkLst>
          <pc:docMk/>
          <pc:sldMk cId="0" sldId="264"/>
        </pc:sldMkLst>
        <pc:spChg chg="mod">
          <ac:chgData name="Pilar Vicuña Moller" userId="4d5592f5-41c7-4002-9371-30e03ba921a2" providerId="ADAL" clId="{E9E51B35-1D0A-4310-B49D-84AEE3786DC8}" dt="2026-07-17T16:46:07.942" v="22" actId="27636"/>
          <ac:spMkLst>
            <pc:docMk/>
            <pc:sldMk cId="0" sldId="264"/>
            <ac:spMk id="5" creationId="{00000000-0000-0000-0000-000000000000}"/>
          </ac:spMkLst>
        </pc:spChg>
      </pc:sldChg>
      <pc:sldChg chg="del">
        <pc:chgData name="Pilar Vicuña Moller" userId="4d5592f5-41c7-4002-9371-30e03ba921a2" providerId="ADAL" clId="{E9E51B35-1D0A-4310-B49D-84AEE3786DC8}" dt="2026-07-17T16:46:21.842" v="23" actId="47"/>
        <pc:sldMkLst>
          <pc:docMk/>
          <pc:sldMk cId="0" sldId="265"/>
        </pc:sldMkLst>
      </pc:sldChg>
      <pc:sldChg chg="delSp mod">
        <pc:chgData name="Pilar Vicuña Moller" userId="4d5592f5-41c7-4002-9371-30e03ba921a2" providerId="ADAL" clId="{E9E51B35-1D0A-4310-B49D-84AEE3786DC8}" dt="2026-07-17T15:06:56.766" v="0" actId="478"/>
        <pc:sldMkLst>
          <pc:docMk/>
          <pc:sldMk cId="0" sldId="266"/>
        </pc:sldMkLst>
        <pc:spChg chg="del">
          <ac:chgData name="Pilar Vicuña Moller" userId="4d5592f5-41c7-4002-9371-30e03ba921a2" providerId="ADAL" clId="{E9E51B35-1D0A-4310-B49D-84AEE3786DC8}" dt="2026-07-17T15:06:56.766" v="0" actId="478"/>
          <ac:spMkLst>
            <pc:docMk/>
            <pc:sldMk cId="0" sldId="266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0784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0F69B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3977640" y="0"/>
            <a:ext cx="292608" cy="6858000"/>
          </a:xfrm>
          <a:prstGeom prst="rect">
            <a:avLst/>
          </a:prstGeom>
          <a:solidFill>
            <a:srgbClr val="EB3C4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384048" y="475488"/>
            <a:ext cx="2606040" cy="233172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5" name="Image 0" descr="/mnt/data/color_MinEduc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85800"/>
            <a:ext cx="2240280" cy="19933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92040" y="1097280"/>
            <a:ext cx="5852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073B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Formativa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073B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Aprendizaje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919472" y="2560320"/>
            <a:ext cx="60350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Apoyo a la protección de la salud mental y prevención del suicidio en comunidades educativas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4919472" y="3950208"/>
            <a:ext cx="1463040" cy="384048"/>
          </a:xfrm>
          <a:prstGeom prst="roundRect">
            <a:avLst>
              <a:gd name="adj" fmla="val 28571"/>
            </a:avLst>
          </a:prstGeom>
          <a:solidFill>
            <a:srgbClr val="0F69B4"/>
          </a:solidFill>
          <a:ln w="12700">
            <a:solidFill>
              <a:srgbClr val="0F69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5029200" y="404622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B-learning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583680" y="3950208"/>
            <a:ext cx="2286000" cy="384048"/>
          </a:xfrm>
          <a:prstGeom prst="roundRect">
            <a:avLst>
              <a:gd name="adj" fmla="val 28571"/>
            </a:avLst>
          </a:prstGeom>
          <a:solidFill>
            <a:srgbClr val="EB3C46"/>
          </a:solidFill>
          <a:ln w="12700">
            <a:solidFill>
              <a:srgbClr val="EB3C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6693408" y="4046220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30 horas cronológicas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919472" y="4498848"/>
            <a:ext cx="3931920" cy="384048"/>
          </a:xfrm>
          <a:prstGeom prst="roundRect">
            <a:avLst>
              <a:gd name="adj" fmla="val 28571"/>
            </a:avLst>
          </a:prstGeom>
          <a:solidFill>
            <a:srgbClr val="D3DEF2"/>
          </a:solidFill>
          <a:ln w="12700">
            <a:solidFill>
              <a:srgbClr val="D3DE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5029200" y="4594860"/>
            <a:ext cx="3712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3B68"/>
                </a:solidFill>
              </a:rPr>
              <a:t>Equipos regionales y provinciales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919472" y="5303520"/>
            <a:ext cx="61722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06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Propósito: fortalecer capacidades técnicas para acompañar establecimientos con criterios comunes, respuesta coordinada y cuidado de equipos.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85216" y="6080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Ministerio de Educación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9B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371600" cy="64008"/>
          </a:xfrm>
          <a:prstGeom prst="rect">
            <a:avLst/>
          </a:prstGeom>
          <a:solidFill>
            <a:srgbClr val="EB3C4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76072" y="38404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B3C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PROPÓSITO INSTITUCIONAL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94944"/>
            <a:ext cx="7909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50" b="1" dirty="0">
                <a:solidFill>
                  <a:srgbClr val="073B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Sentido de la ruta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10160">
            <a:solidFill>
              <a:srgbClr val="E9E9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06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Ministerio de Educación | Ruta Formativa de Aprendizaje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0F69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1777472" y="6473952"/>
            <a:ext cx="109728" cy="109728"/>
          </a:xfrm>
          <a:prstGeom prst="rect">
            <a:avLst/>
          </a:prstGeom>
          <a:solidFill>
            <a:srgbClr val="EB3C46"/>
          </a:solidFill>
          <a:ln w="12700">
            <a:solidFill>
              <a:srgbClr val="EB3C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594360" y="1389888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50" b="1" dirty="0">
                <a:solidFill>
                  <a:srgbClr val="2B2B2B"/>
                </a:solidFill>
              </a:rPr>
              <a:t>Transitar desde respuestas aisladas hacia una red territorial de corresponsabilidad.</a:t>
            </a:r>
            <a:endParaRPr lang="en-US" sz="2450" dirty="0"/>
          </a:p>
        </p:txBody>
      </p:sp>
      <p:sp>
        <p:nvSpPr>
          <p:cNvPr id="11" name="Shape 9"/>
          <p:cNvSpPr/>
          <p:nvPr/>
        </p:nvSpPr>
        <p:spPr>
          <a:xfrm>
            <a:off x="731520" y="2331720"/>
            <a:ext cx="2194560" cy="0"/>
          </a:xfrm>
          <a:prstGeom prst="line">
            <a:avLst/>
          </a:prstGeom>
          <a:noFill/>
          <a:ln w="27940">
            <a:solidFill>
              <a:srgbClr val="0F69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685800" y="258775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69B4"/>
                </a:solidFill>
              </a:rPr>
              <a:t>01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30175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73B68"/>
                </a:solidFill>
              </a:rPr>
              <a:t>Estandarizar criterios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3584448"/>
            <a:ext cx="2880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06060"/>
                </a:solidFill>
              </a:rPr>
              <a:t>Marco común para orientar a establecimientos y reducir incertidumbre.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389120" y="2331720"/>
            <a:ext cx="2194560" cy="0"/>
          </a:xfrm>
          <a:prstGeom prst="line">
            <a:avLst/>
          </a:prstGeom>
          <a:noFill/>
          <a:ln w="27940">
            <a:solidFill>
              <a:srgbClr val="EB3C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4343400" y="258775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B3C46"/>
                </a:solidFill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389120" y="30175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73B68"/>
                </a:solidFill>
              </a:rPr>
              <a:t>Fortalecer capacidades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389120" y="3584448"/>
            <a:ext cx="2880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06060"/>
                </a:solidFill>
              </a:rPr>
              <a:t>Equipos regionales y provinciales como agentes multiplicadores.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046720" y="2331720"/>
            <a:ext cx="2194560" cy="0"/>
          </a:xfrm>
          <a:prstGeom prst="line">
            <a:avLst/>
          </a:prstGeom>
          <a:noFill/>
          <a:ln w="27940">
            <a:solidFill>
              <a:srgbClr val="0F69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8001000" y="258775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69B4"/>
                </a:solidFill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046720" y="30175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73B68"/>
                </a:solidFill>
              </a:rPr>
              <a:t>Proteger y cuidar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046720" y="3584448"/>
            <a:ext cx="2880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06060"/>
                </a:solidFill>
              </a:rPr>
              <a:t>Respuestas seguras para estudiantes y sostenibles para profesionales.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21792" y="5074920"/>
            <a:ext cx="10789920" cy="822960"/>
          </a:xfrm>
          <a:prstGeom prst="rect">
            <a:avLst/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868680" y="5285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69B4"/>
                </a:solidFill>
              </a:rPr>
              <a:t>Resultado esperado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43200" y="5230368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73B68"/>
                </a:solidFill>
              </a:rPr>
              <a:t>Un plan territorial aplicable, con flujos, protocolos, roles y medidas de cuidado profesional.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9B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371600" cy="64008"/>
          </a:xfrm>
          <a:prstGeom prst="rect">
            <a:avLst/>
          </a:prstGeom>
          <a:solidFill>
            <a:srgbClr val="EB3C4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76072" y="38404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B3C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LAS Y LOS PARTICIPANTES PODRÁN HACER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94944"/>
            <a:ext cx="7909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50" b="1" dirty="0">
                <a:solidFill>
                  <a:srgbClr val="073B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Competencias de salida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10160">
            <a:solidFill>
              <a:srgbClr val="E9E9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06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Ministerio de Educación | Ruta Formativa de Aprendizaje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0F69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1777472" y="6473952"/>
            <a:ext cx="109728" cy="109728"/>
          </a:xfrm>
          <a:prstGeom prst="rect">
            <a:avLst/>
          </a:prstGeom>
          <a:solidFill>
            <a:srgbClr val="EB3C46"/>
          </a:solidFill>
          <a:ln w="12700">
            <a:solidFill>
              <a:srgbClr val="EB3C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5989320" y="1481328"/>
            <a:ext cx="0" cy="4480560"/>
          </a:xfrm>
          <a:prstGeom prst="line">
            <a:avLst/>
          </a:prstGeom>
          <a:noFill/>
          <a:ln w="38100">
            <a:solidFill>
              <a:srgbClr val="D3DE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5797296" y="1481328"/>
            <a:ext cx="384048" cy="384048"/>
          </a:xfrm>
          <a:prstGeom prst="ellipse">
            <a:avLst/>
          </a:prstGeom>
          <a:solidFill>
            <a:srgbClr val="0F69B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2788920" y="1463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F69B4"/>
                </a:solidFill>
              </a:rPr>
              <a:t>Interpretar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94560" y="179222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606060"/>
                </a:solidFill>
              </a:rPr>
              <a:t>marco normativo y responsabilidades institucionales.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797296" y="2322576"/>
            <a:ext cx="384048" cy="384048"/>
          </a:xfrm>
          <a:prstGeom prst="ellipse">
            <a:avLst/>
          </a:prstGeom>
          <a:solidFill>
            <a:srgbClr val="EB3C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355080" y="2304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B3C46"/>
                </a:solidFill>
              </a:rPr>
              <a:t>Orientar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55080" y="263347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06060"/>
                </a:solidFill>
              </a:rPr>
              <a:t>protocolos, detección, comunicación y derivación.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797296" y="3163824"/>
            <a:ext cx="384048" cy="384048"/>
          </a:xfrm>
          <a:prstGeom prst="ellipse">
            <a:avLst/>
          </a:prstGeom>
          <a:solidFill>
            <a:srgbClr val="0F69B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2788920" y="31455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F69B4"/>
                </a:solidFill>
              </a:rPr>
              <a:t>Aplicar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194560" y="347472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606060"/>
                </a:solidFill>
              </a:rPr>
              <a:t>herramientas básicas de Primera Ayuda Psicológica.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797296" y="4005072"/>
            <a:ext cx="384048" cy="384048"/>
          </a:xfrm>
          <a:prstGeom prst="ellipse">
            <a:avLst/>
          </a:prstGeom>
          <a:solidFill>
            <a:srgbClr val="EB3C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6355080" y="39867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B3C46"/>
                </a:solidFill>
              </a:rPr>
              <a:t>Diseñar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355080" y="431596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06060"/>
                </a:solidFill>
              </a:rPr>
              <a:t>flujos seguros de actuación territorial.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797296" y="4846320"/>
            <a:ext cx="384048" cy="384048"/>
          </a:xfrm>
          <a:prstGeom prst="ellipse">
            <a:avLst/>
          </a:prstGeom>
          <a:solidFill>
            <a:srgbClr val="0F69B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2788920" y="4828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F69B4"/>
                </a:solidFill>
              </a:rPr>
              <a:t>Promover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194560" y="515721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606060"/>
                </a:solidFill>
              </a:rPr>
              <a:t>autocuidado, cuidado mutuo y prevención del burnout.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25880" y="5797296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073B68"/>
                </a:solidFill>
              </a:rPr>
              <a:t>Enfoque: aprendizaje aplicado + análisis de casos + simulación + transferencia territorial.</a:t>
            </a:r>
            <a:endParaRPr lang="en-US" sz="1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9B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371600" cy="64008"/>
          </a:xfrm>
          <a:prstGeom prst="rect">
            <a:avLst/>
          </a:prstGeom>
          <a:solidFill>
            <a:srgbClr val="EB3C4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76072" y="38404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B3C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APROPIACIÓN INSTITUCIONAL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94944"/>
            <a:ext cx="7909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150" b="1" dirty="0" err="1">
                <a:solidFill>
                  <a:srgbClr val="073B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Módulo</a:t>
            </a:r>
            <a:r>
              <a:rPr lang="en-US" sz="3150" b="1" dirty="0">
                <a:solidFill>
                  <a:srgbClr val="073B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1: Marco normativo y políticas públicas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10160">
            <a:solidFill>
              <a:srgbClr val="E9E9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06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Ministerio de Educación | Ruta Formativa de Aprendizaje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0F69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1777472" y="6473952"/>
            <a:ext cx="109728" cy="109728"/>
          </a:xfrm>
          <a:prstGeom prst="rect">
            <a:avLst/>
          </a:prstGeom>
          <a:solidFill>
            <a:srgbClr val="EB3C46"/>
          </a:solidFill>
          <a:ln w="12700">
            <a:solidFill>
              <a:srgbClr val="EB3C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9015984" y="640080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M1 · 6 h · 4 V + 2 P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685800" y="14813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3C46"/>
                </a:solidFill>
              </a:rPr>
              <a:t>Foco de aprendizaje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185623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</a:rPr>
              <a:t>Alinear la gestión de salud mental escolar con derecho a la educación, bienestar integral y protección.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0" y="1755648"/>
            <a:ext cx="1874520" cy="841248"/>
          </a:xfrm>
          <a:prstGeom prst="roundRect">
            <a:avLst>
              <a:gd name="adj" fmla="val 10870"/>
            </a:avLst>
          </a:prstGeom>
          <a:solidFill>
            <a:srgbClr val="0F69B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5596128" y="197510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Políticas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y normativa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543800" y="2788920"/>
            <a:ext cx="1874520" cy="841248"/>
          </a:xfrm>
          <a:prstGeom prst="roundRect">
            <a:avLst>
              <a:gd name="adj" fmla="val 10870"/>
            </a:avLst>
          </a:prstGeom>
          <a:solidFill>
            <a:srgbClr val="EB3C4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7653528" y="30083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Responsabilidades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institucionales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0" y="3931920"/>
            <a:ext cx="1874520" cy="841248"/>
          </a:xfrm>
          <a:prstGeom prst="roundRect">
            <a:avLst>
              <a:gd name="adj" fmla="val 10870"/>
            </a:avLst>
          </a:prstGeom>
          <a:solidFill>
            <a:srgbClr val="0F69B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5596128" y="41513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Redes y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actores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49808" y="4251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69B4"/>
                </a:solidFill>
              </a:rPr>
              <a:t>Evidencia: Mapa normativo e institucional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58952" y="469087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06060"/>
                </a:solidFill>
              </a:rPr>
              <a:t>Actores · responsabilidades · canales · instrumentos de actuación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9B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371600" cy="64008"/>
          </a:xfrm>
          <a:prstGeom prst="rect">
            <a:avLst/>
          </a:prstGeom>
          <a:solidFill>
            <a:srgbClr val="EB3C4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76072" y="38404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B3C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DESMITIFICACIÓN Y ACTUACIÓN OPORTUNA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94944"/>
            <a:ext cx="7909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50" b="1" dirty="0">
                <a:solidFill>
                  <a:srgbClr val="073B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Módulo 2: Prevención y protocolos basados en evidencia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10160">
            <a:solidFill>
              <a:srgbClr val="E9E9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06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Ministerio de Educación | Ruta Formativa de Aprendizaje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0F69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1777472" y="6473952"/>
            <a:ext cx="109728" cy="109728"/>
          </a:xfrm>
          <a:prstGeom prst="rect">
            <a:avLst/>
          </a:prstGeom>
          <a:solidFill>
            <a:srgbClr val="EB3C46"/>
          </a:solidFill>
          <a:ln w="12700">
            <a:solidFill>
              <a:srgbClr val="EB3C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9015984" y="640080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M2 · 8 h · 4 V + 4 P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685800" y="14173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B2B2B"/>
                </a:solidFill>
              </a:rPr>
              <a:t>La prevención requiere pasar de creencias culturales a decisiones técnicas.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2194560" y="3246120"/>
            <a:ext cx="1234440" cy="0"/>
          </a:xfrm>
          <a:prstGeom prst="line">
            <a:avLst/>
          </a:prstGeom>
          <a:noFill/>
          <a:ln w="38100">
            <a:solidFill>
              <a:srgbClr val="D3DEF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4846320" y="3246120"/>
            <a:ext cx="1234440" cy="0"/>
          </a:xfrm>
          <a:prstGeom prst="line">
            <a:avLst/>
          </a:prstGeom>
          <a:noFill/>
          <a:ln w="38100">
            <a:solidFill>
              <a:srgbClr val="D3DEF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7498080" y="3246120"/>
            <a:ext cx="1234440" cy="0"/>
          </a:xfrm>
          <a:prstGeom prst="line">
            <a:avLst/>
          </a:prstGeom>
          <a:noFill/>
          <a:ln w="38100">
            <a:solidFill>
              <a:srgbClr val="D3DEF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777240" y="2514600"/>
            <a:ext cx="1508760" cy="1508760"/>
          </a:xfrm>
          <a:prstGeom prst="roundRect">
            <a:avLst>
              <a:gd name="adj" fmla="val 9091"/>
            </a:avLst>
          </a:prstGeom>
          <a:solidFill>
            <a:srgbClr val="FDE8EA"/>
          </a:solidFill>
          <a:ln w="16510">
            <a:solidFill>
              <a:srgbClr val="EB3C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1216152" y="27614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B3C46"/>
                </a:solidFill>
              </a:rPr>
              <a:t>1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23544" y="324612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B2B2B"/>
                </a:solidFill>
              </a:rPr>
              <a:t>Mitos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b="1" dirty="0">
                <a:solidFill>
                  <a:srgbClr val="2B2B2B"/>
                </a:solidFill>
              </a:rPr>
              <a:t>y realidades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3429000" y="2514600"/>
            <a:ext cx="1508760" cy="1508760"/>
          </a:xfrm>
          <a:prstGeom prst="roundRect">
            <a:avLst>
              <a:gd name="adj" fmla="val 9091"/>
            </a:avLst>
          </a:prstGeom>
          <a:solidFill>
            <a:srgbClr val="EEF4FB"/>
          </a:solidFill>
          <a:ln w="16510">
            <a:solidFill>
              <a:srgbClr val="0F69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3867912" y="27614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69B4"/>
                </a:solidFill>
              </a:rPr>
              <a:t>2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3575304" y="324612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B2B2B"/>
                </a:solidFill>
              </a:rPr>
              <a:t>Señales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b="1" dirty="0">
                <a:solidFill>
                  <a:srgbClr val="2B2B2B"/>
                </a:solidFill>
              </a:rPr>
              <a:t>de alerta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6080760" y="2514600"/>
            <a:ext cx="1508760" cy="1508760"/>
          </a:xfrm>
          <a:prstGeom prst="roundRect">
            <a:avLst>
              <a:gd name="adj" fmla="val 9091"/>
            </a:avLst>
          </a:prstGeom>
          <a:solidFill>
            <a:srgbClr val="FDE8EA"/>
          </a:solidFill>
          <a:ln w="16510">
            <a:solidFill>
              <a:srgbClr val="EB3C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6519672" y="27614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B3C46"/>
                </a:solidFill>
              </a:rPr>
              <a:t>3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227064" y="324612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B2B2B"/>
                </a:solidFill>
              </a:rPr>
              <a:t>Protocolo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b="1" dirty="0">
                <a:solidFill>
                  <a:srgbClr val="2B2B2B"/>
                </a:solidFill>
              </a:rPr>
              <a:t>24 Horas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8732520" y="2514600"/>
            <a:ext cx="1508760" cy="1508760"/>
          </a:xfrm>
          <a:prstGeom prst="roundRect">
            <a:avLst>
              <a:gd name="adj" fmla="val 9091"/>
            </a:avLst>
          </a:prstGeom>
          <a:solidFill>
            <a:srgbClr val="EEF4FB"/>
          </a:solidFill>
          <a:ln w="16510">
            <a:solidFill>
              <a:srgbClr val="0F69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9171432" y="27614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69B4"/>
                </a:solidFill>
              </a:rPr>
              <a:t>4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8878824" y="324612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B2B2B"/>
                </a:solidFill>
              </a:rPr>
              <a:t>Derivación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b="1" dirty="0">
                <a:solidFill>
                  <a:srgbClr val="2B2B2B"/>
                </a:solidFill>
              </a:rPr>
              <a:t>y redes</a:t>
            </a:r>
            <a:endParaRPr lang="en-US" sz="1280" dirty="0"/>
          </a:p>
        </p:txBody>
      </p:sp>
      <p:sp>
        <p:nvSpPr>
          <p:cNvPr id="28" name="Shape 26"/>
          <p:cNvSpPr/>
          <p:nvPr/>
        </p:nvSpPr>
        <p:spPr>
          <a:xfrm>
            <a:off x="804672" y="4800600"/>
            <a:ext cx="10332720" cy="658368"/>
          </a:xfrm>
          <a:prstGeom prst="rect">
            <a:avLst/>
          </a:prstGeom>
          <a:solidFill>
            <a:srgbClr val="EEF4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1024128" y="50109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69B4"/>
                </a:solidFill>
              </a:rPr>
              <a:t>Evidencia de aprendizaje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383280" y="4965192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73B68"/>
                </a:solidFill>
              </a:rPr>
              <a:t>Flujograma de actuación institucional con tiempos, responsables, comunicación y derivación.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9B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371600" cy="64008"/>
          </a:xfrm>
          <a:prstGeom prst="rect">
            <a:avLst/>
          </a:prstGeom>
          <a:solidFill>
            <a:srgbClr val="EB3C4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76072" y="38404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B3C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OPERACIONALIZACIÓN DE LA RESPUESTA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94944"/>
            <a:ext cx="7909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50" b="1" dirty="0">
                <a:solidFill>
                  <a:srgbClr val="073B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Módulo 3: Respuesta ante emergencias y PAP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10160">
            <a:solidFill>
              <a:srgbClr val="E9E9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06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Ministerio de Educación | Ruta Formativa de Aprendizaje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0F69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1777472" y="6473952"/>
            <a:ext cx="109728" cy="109728"/>
          </a:xfrm>
          <a:prstGeom prst="rect">
            <a:avLst/>
          </a:prstGeom>
          <a:solidFill>
            <a:srgbClr val="EB3C46"/>
          </a:solidFill>
          <a:ln w="12700">
            <a:solidFill>
              <a:srgbClr val="EB3C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9015984" y="640080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M3 · 8 h · 2 V + 6 P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685800" y="139903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2B2B2B"/>
                </a:solidFill>
              </a:rPr>
              <a:t>Objetivo: actuar con coordinación, humanidad y sustento técnico durante una crisis.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4069080" y="32918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D3DEF2"/>
                </a:solidFill>
              </a:rPr>
              <a:t>→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635240" y="32918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D3DEF2"/>
                </a:solidFill>
              </a:rPr>
              <a:t>→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1463040" y="2971800"/>
            <a:ext cx="2148840" cy="1097280"/>
          </a:xfrm>
          <a:prstGeom prst="roundRect">
            <a:avLst>
              <a:gd name="adj" fmla="val 10000"/>
            </a:avLst>
          </a:prstGeom>
          <a:solidFill>
            <a:srgbClr val="0F69B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1609344" y="3172968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</a:rPr>
              <a:t>1. Contener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627632" y="35570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FFFFFF"/>
                </a:solidFill>
              </a:rPr>
              <a:t>Escucha activa y comunicación protectora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029200" y="2971800"/>
            <a:ext cx="2148840" cy="1097280"/>
          </a:xfrm>
          <a:prstGeom prst="roundRect">
            <a:avLst>
              <a:gd name="adj" fmla="val 10000"/>
            </a:avLst>
          </a:prstGeom>
          <a:solidFill>
            <a:srgbClr val="EB3C4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5175504" y="3172968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</a:rPr>
              <a:t>2. Proteger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193792" y="35570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FFFFFF"/>
                </a:solidFill>
              </a:rPr>
              <a:t>Evitar exposición, rumores y revictimización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8595360" y="2971800"/>
            <a:ext cx="2148840" cy="1097280"/>
          </a:xfrm>
          <a:prstGeom prst="roundRect">
            <a:avLst>
              <a:gd name="adj" fmla="val 10000"/>
            </a:avLst>
          </a:prstGeom>
          <a:solidFill>
            <a:srgbClr val="0F69B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8741664" y="3172968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</a:rPr>
              <a:t>3. Coordinar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759952" y="35570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FFFFFF"/>
                </a:solidFill>
              </a:rPr>
              <a:t>Redes, familia, establecimiento y seguimiento inicial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786384" y="52852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73B68"/>
                </a:solidFill>
              </a:rPr>
              <a:t>Evidencia: Protocolo operativo de respuesta ante crisis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9B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371600" cy="64008"/>
          </a:xfrm>
          <a:prstGeom prst="rect">
            <a:avLst/>
          </a:prstGeom>
          <a:solidFill>
            <a:srgbClr val="EB3C4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76072" y="38404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B3C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SOSTENIBILIDAD DEL EQUIPO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94944"/>
            <a:ext cx="7909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40000" lnSpcReduction="20000"/>
          </a:bodyPr>
          <a:lstStyle/>
          <a:p>
            <a:pPr marL="0" indent="0">
              <a:buNone/>
            </a:pPr>
            <a:endParaRPr lang="en-US" sz="3150" b="1" dirty="0">
              <a:solidFill>
                <a:srgbClr val="073B68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  <a:p>
            <a:pPr marL="0" indent="0">
              <a:buNone/>
            </a:pPr>
            <a:r>
              <a:rPr lang="en-US" sz="5700" b="1" dirty="0" err="1">
                <a:solidFill>
                  <a:srgbClr val="073B68"/>
                </a:solidFill>
                <a:latin typeface="Aptos Display" pitchFamily="34" charset="0"/>
              </a:rPr>
              <a:t>Módulo</a:t>
            </a:r>
            <a:r>
              <a:rPr lang="en-US" sz="5700" b="1" dirty="0">
                <a:solidFill>
                  <a:srgbClr val="073B68"/>
                </a:solidFill>
                <a:latin typeface="Aptos Display" pitchFamily="34" charset="0"/>
              </a:rPr>
              <a:t> 4: Bienestar profesional y prevención del burnout</a:t>
            </a:r>
          </a:p>
        </p:txBody>
      </p:sp>
      <p:sp>
        <p:nvSpPr>
          <p:cNvPr id="6" name="Shape 4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10160">
            <a:solidFill>
              <a:srgbClr val="E9E9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06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Ministerio de Educación | Ruta Formativa de Aprendizaje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0F69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1777472" y="6473952"/>
            <a:ext cx="109728" cy="109728"/>
          </a:xfrm>
          <a:prstGeom prst="rect">
            <a:avLst/>
          </a:prstGeom>
          <a:solidFill>
            <a:srgbClr val="EB3C46"/>
          </a:solidFill>
          <a:ln w="12700">
            <a:solidFill>
              <a:srgbClr val="EB3C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9015984" y="640080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M4 · 4 h · 2 V + 2 P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685800" y="140817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b="1" dirty="0">
              <a:solidFill>
                <a:srgbClr val="2B2B2B"/>
              </a:solidFill>
            </a:endParaRPr>
          </a:p>
          <a:p>
            <a:pPr marL="0" indent="0">
              <a:buNone/>
            </a:pPr>
            <a:r>
              <a:rPr lang="en-US" sz="2000" b="1" dirty="0" err="1">
                <a:solidFill>
                  <a:srgbClr val="2B2B2B"/>
                </a:solidFill>
              </a:rPr>
              <a:t>Cuidar</a:t>
            </a:r>
            <a:r>
              <a:rPr lang="en-US" sz="2000" b="1" dirty="0">
                <a:solidFill>
                  <a:srgbClr val="2B2B2B"/>
                </a:solidFill>
              </a:rPr>
              <a:t> a quienes intervienen es una condición técnica para sostener respuestas seguras.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325880" y="2651760"/>
            <a:ext cx="1508760" cy="15087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F69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1481328" y="31546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9B4"/>
                </a:solidFill>
              </a:rPr>
              <a:t>Autocuidado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0" y="2651760"/>
            <a:ext cx="1508760" cy="15087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B3C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3995928" y="31546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B3C46"/>
                </a:solidFill>
              </a:rPr>
              <a:t>Cuidado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B3C46"/>
                </a:solidFill>
              </a:rPr>
              <a:t>mutuo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2651760"/>
            <a:ext cx="1508760" cy="15087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F69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6556248" y="31546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9B4"/>
                </a:solidFill>
              </a:rPr>
              <a:t>Organización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69B4"/>
                </a:solidFill>
              </a:rPr>
              <a:t>protectora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98280" y="2651760"/>
            <a:ext cx="1508760" cy="15087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B3C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9253728" y="31546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B3C46"/>
                </a:solidFill>
              </a:rPr>
              <a:t>Monitoreo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B3C46"/>
                </a:solidFill>
              </a:rPr>
              <a:t>del burnout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834640" y="3401568"/>
            <a:ext cx="1005840" cy="0"/>
          </a:xfrm>
          <a:prstGeom prst="line">
            <a:avLst/>
          </a:prstGeom>
          <a:noFill/>
          <a:ln w="31750">
            <a:solidFill>
              <a:srgbClr val="D3DE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5349240" y="3401568"/>
            <a:ext cx="1051560" cy="0"/>
          </a:xfrm>
          <a:prstGeom prst="line">
            <a:avLst/>
          </a:prstGeom>
          <a:noFill/>
          <a:ln w="31750">
            <a:solidFill>
              <a:srgbClr val="D3DE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7909560" y="3401568"/>
            <a:ext cx="1188720" cy="0"/>
          </a:xfrm>
          <a:prstGeom prst="line">
            <a:avLst/>
          </a:prstGeom>
          <a:noFill/>
          <a:ln w="31750">
            <a:solidFill>
              <a:srgbClr val="D3DE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1078992" y="5074920"/>
            <a:ext cx="9966960" cy="502920"/>
          </a:xfrm>
          <a:prstGeom prst="rect">
            <a:avLst/>
          </a:prstGeom>
          <a:solidFill>
            <a:srgbClr val="FDE8E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1261872" y="5230368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73B68"/>
                </a:solidFill>
              </a:rPr>
              <a:t>Evidencia: Plan de cuidado y prevención del burnout con medidas individuales, colectivas y organizacionales.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9B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371600" cy="64008"/>
          </a:xfrm>
          <a:prstGeom prst="rect">
            <a:avLst/>
          </a:prstGeom>
          <a:solidFill>
            <a:srgbClr val="EB3C4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76072" y="38404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B3C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Y TRANSFERENCIA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694944"/>
            <a:ext cx="7909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47500" lnSpcReduction="20000"/>
          </a:bodyPr>
          <a:lstStyle/>
          <a:p>
            <a:pPr marL="0" indent="0">
              <a:buNone/>
            </a:pPr>
            <a:endParaRPr lang="en-US" sz="3150" b="1" dirty="0">
              <a:solidFill>
                <a:srgbClr val="073B68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  <a:p>
            <a:pPr marL="0" indent="0">
              <a:buNone/>
            </a:pPr>
            <a:r>
              <a:rPr lang="en-US" sz="4200" b="1" dirty="0" err="1">
                <a:solidFill>
                  <a:srgbClr val="073B68"/>
                </a:solidFill>
                <a:latin typeface="Aptos Display" pitchFamily="34" charset="0"/>
              </a:rPr>
              <a:t>Producto</a:t>
            </a:r>
            <a:r>
              <a:rPr lang="en-US" sz="4200" b="1" dirty="0">
                <a:solidFill>
                  <a:srgbClr val="073B68"/>
                </a:solidFill>
                <a:latin typeface="Aptos Display" pitchFamily="34" charset="0"/>
              </a:rPr>
              <a:t> final: Plan territorial de </a:t>
            </a:r>
            <a:r>
              <a:rPr lang="en-US" sz="4200" b="1" dirty="0" err="1">
                <a:solidFill>
                  <a:srgbClr val="073B68"/>
                </a:solidFill>
                <a:latin typeface="Aptos Display" pitchFamily="34" charset="0"/>
              </a:rPr>
              <a:t>acompañamiento</a:t>
            </a:r>
            <a:endParaRPr lang="en-US" sz="4200" b="1" dirty="0">
              <a:solidFill>
                <a:srgbClr val="073B68"/>
              </a:solidFill>
              <a:latin typeface="Aptos Display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10160">
            <a:solidFill>
              <a:srgbClr val="E9E9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06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Ministerio de Educación | Ruta Formativa de Aprendizaje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0F69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1777472" y="6473952"/>
            <a:ext cx="109728" cy="109728"/>
          </a:xfrm>
          <a:prstGeom prst="rect">
            <a:avLst/>
          </a:prstGeom>
          <a:solidFill>
            <a:srgbClr val="EB3C46"/>
          </a:solidFill>
          <a:ln w="12700">
            <a:solidFill>
              <a:srgbClr val="EB3C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685800" y="138988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</a:rPr>
              <a:t>El plan integra los aprendizajes de la ruta en una herramienta transferible a establecimientos.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709160" y="2743200"/>
            <a:ext cx="2743200" cy="1005840"/>
          </a:xfrm>
          <a:prstGeom prst="roundRect">
            <a:avLst>
              <a:gd name="adj" fmla="val 12727"/>
            </a:avLst>
          </a:prstGeom>
          <a:solidFill>
            <a:srgbClr val="073B6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937760" y="305409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Plan territorial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integrado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1965960"/>
            <a:ext cx="2057400" cy="804672"/>
          </a:xfrm>
          <a:prstGeom prst="roundRect">
            <a:avLst>
              <a:gd name="adj" fmla="val 11364"/>
            </a:avLst>
          </a:prstGeom>
          <a:solidFill>
            <a:srgbClr val="0F69B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1051560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Diagnóstico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territorial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14400" y="3913632"/>
            <a:ext cx="2057400" cy="804672"/>
          </a:xfrm>
          <a:prstGeom prst="roundRect">
            <a:avLst>
              <a:gd name="adj" fmla="val 11364"/>
            </a:avLst>
          </a:prstGeom>
          <a:solidFill>
            <a:srgbClr val="EB3C4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1051560" y="4142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Mapa de actores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y redes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732520" y="1965960"/>
            <a:ext cx="2057400" cy="804672"/>
          </a:xfrm>
          <a:prstGeom prst="roundRect">
            <a:avLst>
              <a:gd name="adj" fmla="val 11364"/>
            </a:avLst>
          </a:prstGeom>
          <a:solidFill>
            <a:srgbClr val="EB3C4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8869680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Flujo de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derivación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732520" y="3913632"/>
            <a:ext cx="2057400" cy="804672"/>
          </a:xfrm>
          <a:prstGeom prst="roundRect">
            <a:avLst>
              <a:gd name="adj" fmla="val 11364"/>
            </a:avLst>
          </a:prstGeom>
          <a:solidFill>
            <a:srgbClr val="0F69B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8869680" y="4142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Cuidado de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equipos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325880" y="562356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80" b="1" dirty="0">
                <a:solidFill>
                  <a:srgbClr val="073B68"/>
                </a:solidFill>
              </a:rPr>
              <a:t>Incluye: acciones, responsables, plazos, indicadores y compromisos de seguimiento.</a:t>
            </a:r>
            <a:endParaRPr lang="en-US" sz="15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3B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B3C4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 0" descr="/mnt/data/color_MinEduc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713232"/>
            <a:ext cx="1481328" cy="1316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0" y="9601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Impacto esperado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2761488" y="16002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3DEF2"/>
                </a:solidFill>
              </a:rPr>
              <a:t>Una red educativa territorial más coordinada, preventiva y protectora.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798064" y="2606040"/>
            <a:ext cx="146304" cy="146304"/>
          </a:xfrm>
          <a:prstGeom prst="ellipse">
            <a:avLst/>
          </a:prstGeom>
          <a:solidFill>
            <a:srgbClr val="D3DE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3063240" y="257860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30" dirty="0">
                <a:solidFill>
                  <a:srgbClr val="FFFFFF"/>
                </a:solidFill>
              </a:rPr>
              <a:t>Criterios comunes para orientar a establecimientos.</a:t>
            </a:r>
            <a:endParaRPr lang="en-US" sz="1630" dirty="0"/>
          </a:p>
        </p:txBody>
      </p:sp>
      <p:sp>
        <p:nvSpPr>
          <p:cNvPr id="8" name="Shape 5"/>
          <p:cNvSpPr/>
          <p:nvPr/>
        </p:nvSpPr>
        <p:spPr>
          <a:xfrm>
            <a:off x="2798064" y="3172968"/>
            <a:ext cx="146304" cy="146304"/>
          </a:xfrm>
          <a:prstGeom prst="ellipse">
            <a:avLst/>
          </a:prstGeom>
          <a:solidFill>
            <a:srgbClr val="EB3C4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3063240" y="314553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30" dirty="0">
                <a:solidFill>
                  <a:srgbClr val="FFFFFF"/>
                </a:solidFill>
              </a:rPr>
              <a:t>Mejor oportunidad en detección, comunicación y derivación.</a:t>
            </a:r>
            <a:endParaRPr lang="en-US" sz="1630" dirty="0"/>
          </a:p>
        </p:txBody>
      </p:sp>
      <p:sp>
        <p:nvSpPr>
          <p:cNvPr id="10" name="Shape 7"/>
          <p:cNvSpPr/>
          <p:nvPr/>
        </p:nvSpPr>
        <p:spPr>
          <a:xfrm>
            <a:off x="2798064" y="3739896"/>
            <a:ext cx="146304" cy="146304"/>
          </a:xfrm>
          <a:prstGeom prst="ellipse">
            <a:avLst/>
          </a:prstGeom>
          <a:solidFill>
            <a:srgbClr val="D3DE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3063240" y="371246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30" dirty="0">
                <a:solidFill>
                  <a:srgbClr val="FFFFFF"/>
                </a:solidFill>
              </a:rPr>
              <a:t>Respuesta ante crisis con resguardo, empatía y coordinación.</a:t>
            </a:r>
            <a:endParaRPr lang="en-US" sz="1630" dirty="0"/>
          </a:p>
        </p:txBody>
      </p:sp>
      <p:sp>
        <p:nvSpPr>
          <p:cNvPr id="12" name="Shape 9"/>
          <p:cNvSpPr/>
          <p:nvPr/>
        </p:nvSpPr>
        <p:spPr>
          <a:xfrm>
            <a:off x="2798064" y="4306824"/>
            <a:ext cx="146304" cy="146304"/>
          </a:xfrm>
          <a:prstGeom prst="ellipse">
            <a:avLst/>
          </a:prstGeom>
          <a:solidFill>
            <a:srgbClr val="EB3C4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3063240" y="427939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30" dirty="0">
                <a:solidFill>
                  <a:srgbClr val="FFFFFF"/>
                </a:solidFill>
              </a:rPr>
              <a:t>Cuidado profesional integrado como condición de sostenibilidad.</a:t>
            </a:r>
            <a:endParaRPr lang="en-US" sz="1630" dirty="0"/>
          </a:p>
        </p:txBody>
      </p:sp>
      <p:sp>
        <p:nvSpPr>
          <p:cNvPr id="14" name="Shape 11"/>
          <p:cNvSpPr/>
          <p:nvPr/>
        </p:nvSpPr>
        <p:spPr>
          <a:xfrm>
            <a:off x="2761488" y="5266944"/>
            <a:ext cx="7132320" cy="0"/>
          </a:xfrm>
          <a:prstGeom prst="line">
            <a:avLst/>
          </a:prstGeom>
          <a:noFill/>
          <a:ln w="31750">
            <a:solidFill>
              <a:srgbClr val="EB3C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2743200" y="55595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i="1" dirty="0">
                <a:solidFill>
                  <a:srgbClr val="FFFFFF"/>
                </a:solidFill>
              </a:rPr>
              <a:t>“La protección de la salud mental de las y los estudiantes es inseparable del cuidado de quienes intervienen.”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646</Words>
  <Application>Microsoft Office PowerPoint</Application>
  <PresentationFormat>Panorámica</PresentationFormat>
  <Paragraphs>138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Ruta Formativa: Salud Mental y Prevención del Suicidio</dc:title>
  <dc:subject>Ruta formativa de aprendizaje</dc:subject>
  <dc:creator>OpenAI</dc:creator>
  <cp:lastModifiedBy>Pilar Vicuña Moller</cp:lastModifiedBy>
  <cp:revision>1</cp:revision>
  <dcterms:created xsi:type="dcterms:W3CDTF">2026-07-17T15:00:35Z</dcterms:created>
  <dcterms:modified xsi:type="dcterms:W3CDTF">2026-07-17T16:46:31Z</dcterms:modified>
</cp:coreProperties>
</file>